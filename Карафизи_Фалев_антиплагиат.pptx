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49538B-B3E2-4FE3-81E0-794EF4D963B7}" v="2051" dt="2026-02-08T15:31:57.6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308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606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78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422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129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7283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066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5231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740969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97985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5034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2/8/2026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78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5" r:id="rId1"/>
    <p:sldLayoutId id="2147483896" r:id="rId2"/>
    <p:sldLayoutId id="2147483897" r:id="rId3"/>
    <p:sldLayoutId id="2147483898" r:id="rId4"/>
    <p:sldLayoutId id="2147483899" r:id="rId5"/>
    <p:sldLayoutId id="2147483900" r:id="rId6"/>
    <p:sldLayoutId id="2147483901" r:id="rId7"/>
    <p:sldLayoutId id="2147483902" r:id="rId8"/>
    <p:sldLayoutId id="2147483903" r:id="rId9"/>
    <p:sldLayoutId id="2147483904" r:id="rId10"/>
    <p:sldLayoutId id="2147483905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672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pos="7176" userDrawn="1">
          <p15:clr>
            <a:srgbClr val="F26B43"/>
          </p15:clr>
        </p15:guide>
        <p15:guide id="6" pos="504" userDrawn="1">
          <p15:clr>
            <a:srgbClr val="F26B43"/>
          </p15:clr>
        </p15:guide>
        <p15:guide id="7" orient="horz" pos="3864" userDrawn="1">
          <p15:clr>
            <a:srgbClr val="F26B43"/>
          </p15:clr>
        </p15:guide>
        <p15:guide id="8" orient="horz" pos="4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257444" y="3886927"/>
            <a:ext cx="4398023" cy="2444257"/>
          </a:xfrm>
        </p:spPr>
        <p:txBody>
          <a:bodyPr vert="horz" lIns="91440" tIns="45720" rIns="91440" bIns="45720" rtlCol="0" anchor="t">
            <a:noAutofit/>
          </a:bodyPr>
          <a:lstStyle/>
          <a:p>
            <a:pPr indent="1143000">
              <a:lnSpc>
                <a:spcPct val="150000"/>
              </a:lnSpc>
            </a:pPr>
            <a:r>
              <a:rPr lang="ru-RU" sz="1400" b="1" dirty="0">
                <a:latin typeface="Times New Roman"/>
                <a:cs typeface="Times New Roman"/>
              </a:rPr>
              <a:t>Авторы: 9М ГБОУ Школа №67 </a:t>
            </a:r>
            <a:r>
              <a:rPr lang="ru-RU" sz="1400" b="1" err="1">
                <a:latin typeface="Times New Roman"/>
                <a:cs typeface="Times New Roman"/>
              </a:rPr>
              <a:t>Карафизи</a:t>
            </a:r>
            <a:r>
              <a:rPr lang="ru-RU" sz="1400" b="1" dirty="0">
                <a:latin typeface="Times New Roman"/>
                <a:cs typeface="Times New Roman"/>
              </a:rPr>
              <a:t> Марк </a:t>
            </a:r>
            <a:r>
              <a:rPr lang="ru-RU" sz="1400" b="1">
                <a:latin typeface="Times New Roman"/>
                <a:cs typeface="Times New Roman"/>
              </a:rPr>
              <a:t>Захарьевич и Фалев Фёдор Александрович.</a:t>
            </a:r>
            <a:endParaRPr lang="ru-RU"/>
          </a:p>
          <a:p>
            <a:pPr indent="1143000">
              <a:lnSpc>
                <a:spcPct val="150000"/>
              </a:lnSpc>
            </a:pPr>
            <a:r>
              <a:rPr lang="ru-RU" sz="1400" b="1" dirty="0">
                <a:latin typeface="Times New Roman"/>
                <a:cs typeface="Times New Roman"/>
              </a:rPr>
              <a:t>Руководитель: учитель информатики ГБОУ Школы №67 Кисляков Иван Дмитриевич.</a:t>
            </a:r>
            <a:endParaRPr lang="ru-RU" sz="14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F612DB-764C-D445-AE25-01F4427D4651}"/>
              </a:ext>
            </a:extLst>
          </p:cNvPr>
          <p:cNvSpPr txBox="1"/>
          <p:nvPr/>
        </p:nvSpPr>
        <p:spPr>
          <a:xfrm>
            <a:off x="4175383" y="1082415"/>
            <a:ext cx="384248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400" b="1" dirty="0"/>
              <a:t>ГБОУ Школа  №67</a:t>
            </a:r>
            <a:endParaRPr lang="ru-RU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93D313-C749-BC82-4A7C-6092B25DD8B4}"/>
              </a:ext>
            </a:extLst>
          </p:cNvPr>
          <p:cNvSpPr txBox="1"/>
          <p:nvPr/>
        </p:nvSpPr>
        <p:spPr>
          <a:xfrm>
            <a:off x="5119141" y="3255364"/>
            <a:ext cx="1956217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sz="1600" b="1" dirty="0"/>
              <a:t>PLAGIOCODE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6A0675-B04B-3449-BDB1-F57F3A20AA21}"/>
              </a:ext>
            </a:extLst>
          </p:cNvPr>
          <p:cNvSpPr txBox="1"/>
          <p:nvPr/>
        </p:nvSpPr>
        <p:spPr>
          <a:xfrm>
            <a:off x="5023788" y="5378440"/>
            <a:ext cx="2131101" cy="700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ru-RU" sz="1400" b="1" dirty="0"/>
              <a:t>Город Москва, 2026 год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F9B8B4-70EC-4FAB-2B15-FE7F66286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90" y="2046927"/>
            <a:ext cx="5230643" cy="609030"/>
          </a:xfrm>
        </p:spPr>
        <p:txBody>
          <a:bodyPr>
            <a:normAutofit/>
          </a:bodyPr>
          <a:lstStyle/>
          <a:p>
            <a:pPr marL="1828800" indent="1143000">
              <a:spcBef>
                <a:spcPts val="0"/>
              </a:spcBef>
            </a:pPr>
            <a:r>
              <a:rPr lang="ru-RU" sz="1400" cap="none" dirty="0">
                <a:latin typeface="Times New Roman"/>
                <a:cs typeface="Times New Roman"/>
              </a:rPr>
              <a:t>Актуальность работы:</a:t>
            </a:r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91113-BE77-926F-EBDC-B48A4CF97184}"/>
              </a:ext>
            </a:extLst>
          </p:cNvPr>
          <p:cNvSpPr txBox="1"/>
          <p:nvPr/>
        </p:nvSpPr>
        <p:spPr>
          <a:xfrm>
            <a:off x="-1731" y="2660073"/>
            <a:ext cx="4798290" cy="24446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0" indent="1143000">
              <a:lnSpc>
                <a:spcPct val="150000"/>
              </a:lnSpc>
              <a:spcBef>
                <a:spcPts val="1000"/>
              </a:spcBef>
            </a:pPr>
            <a:r>
              <a:rPr lang="ru-RU" sz="1400" dirty="0">
                <a:latin typeface="Times New Roman"/>
                <a:cs typeface="Times New Roman"/>
              </a:rPr>
              <a:t>Защита от багов и уязвимостей скопированного кода, а также от несанкционированного использования лицензионного кода.</a:t>
            </a:r>
            <a:endParaRPr lang="ru-RU" sz="1400">
              <a:latin typeface="Times New Roman"/>
              <a:cs typeface="Times New Roman"/>
            </a:endParaRPr>
          </a:p>
          <a:p>
            <a:pPr marL="1828800" indent="1143000">
              <a:lnSpc>
                <a:spcPct val="150000"/>
              </a:lnSpc>
              <a:spcBef>
                <a:spcPts val="1000"/>
              </a:spcBef>
            </a:pPr>
            <a:r>
              <a:rPr lang="ru-RU" sz="1400" dirty="0">
                <a:latin typeface="Times New Roman"/>
                <a:cs typeface="Times New Roman"/>
              </a:rPr>
              <a:t> Обеспечение честности выполнения заданий в IT сфере образования.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71997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93DBE2-C10D-7952-3AF9-C8A4258C3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1" y="2461806"/>
            <a:ext cx="4831852" cy="373580"/>
          </a:xfrm>
        </p:spPr>
        <p:txBody>
          <a:bodyPr>
            <a:normAutofit/>
          </a:bodyPr>
          <a:lstStyle/>
          <a:p>
            <a:pPr marL="1828800" indent="1143000">
              <a:spcBef>
                <a:spcPts val="0"/>
              </a:spcBef>
            </a:pPr>
            <a:r>
              <a:rPr lang="ru-RU" sz="1400" cap="none" dirty="0">
                <a:latin typeface="Times New Roman"/>
                <a:cs typeface="Times New Roman"/>
              </a:rPr>
              <a:t>Цель: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376362-CC66-1DDA-49CD-FDF7024D3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" y="3077838"/>
            <a:ext cx="5119353" cy="25869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0" indent="1143000">
              <a:lnSpc>
                <a:spcPct val="150000"/>
              </a:lnSpc>
              <a:buNone/>
            </a:pPr>
            <a:r>
              <a:rPr lang="ru-RU" sz="1400" dirty="0">
                <a:latin typeface="Times New Roman"/>
                <a:cs typeface="Times New Roman"/>
              </a:rPr>
              <a:t>Создание приложения, сравнивающего код на Python с другим кодом (написанным заранее или сгенерированным LLM) и выводящего процент соответствия программ.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775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B70462-D5E4-D044-686F-B90C44F50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96" y="2371145"/>
            <a:ext cx="4172626" cy="577612"/>
          </a:xfrm>
        </p:spPr>
        <p:txBody>
          <a:bodyPr>
            <a:normAutofit/>
          </a:bodyPr>
          <a:lstStyle/>
          <a:p>
            <a:pPr indent="1828800">
              <a:spcBef>
                <a:spcPts val="0"/>
              </a:spcBef>
            </a:pPr>
            <a:r>
              <a:rPr lang="ru-RU" sz="1400" cap="none" dirty="0">
                <a:latin typeface="Times New Roman"/>
                <a:cs typeface="Times New Roman"/>
              </a:rPr>
              <a:t>Задачи:</a:t>
            </a:r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7FA6D9-3828-F2D6-7F06-9F2F54519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502" y="3230011"/>
            <a:ext cx="7809255" cy="18997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828800" indent="0">
              <a:buNone/>
            </a:pPr>
            <a:r>
              <a:rPr lang="ru-RU" sz="1400" dirty="0">
                <a:latin typeface="Times New Roman"/>
                <a:cs typeface="Times New Roman"/>
              </a:rPr>
              <a:t>1.Написание алгоритмов сравнения.</a:t>
            </a:r>
            <a:endParaRPr lang="ru-RU"/>
          </a:p>
          <a:p>
            <a:pPr marL="1828800" indent="0">
              <a:buNone/>
            </a:pPr>
            <a:r>
              <a:rPr lang="ru-RU" sz="1400" dirty="0">
                <a:latin typeface="Times New Roman"/>
                <a:cs typeface="Times New Roman"/>
              </a:rPr>
              <a:t>2.Подключение LLM для генерации кода.</a:t>
            </a:r>
            <a:endParaRPr lang="ru-RU"/>
          </a:p>
          <a:p>
            <a:pPr marL="1828800" indent="0">
              <a:buNone/>
            </a:pPr>
            <a:r>
              <a:rPr lang="ru-RU" sz="1400" dirty="0">
                <a:latin typeface="Times New Roman"/>
                <a:cs typeface="Times New Roman"/>
              </a:rPr>
              <a:t>3.Создание визуальной части приложения.</a:t>
            </a:r>
            <a:endParaRPr lang="ru-RU"/>
          </a:p>
          <a:p>
            <a:pPr marL="1828800" indent="0">
              <a:buNone/>
            </a:pPr>
            <a:r>
              <a:rPr lang="ru-RU" sz="1400" dirty="0">
                <a:latin typeface="Times New Roman"/>
                <a:cs typeface="Times New Roman"/>
              </a:rPr>
              <a:t>4.Соединение всех частей.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879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AF76CD-AE1B-011D-8FBD-891A10840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1706" y="1990436"/>
            <a:ext cx="4103431" cy="440069"/>
          </a:xfrm>
        </p:spPr>
        <p:txBody>
          <a:bodyPr>
            <a:normAutofit/>
          </a:bodyPr>
          <a:lstStyle/>
          <a:p>
            <a:r>
              <a:rPr lang="ru-RU" sz="1400" cap="none" dirty="0">
                <a:latin typeface="Times New Roman"/>
                <a:cs typeface="Times New Roman"/>
              </a:rPr>
              <a:t>Использованные ресурсы: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A97B9C-6B28-50A6-2517-862ED9E9C0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-7113" y="2447846"/>
            <a:ext cx="4689978" cy="309048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828800" indent="1143000">
              <a:lnSpc>
                <a:spcPct val="150000"/>
              </a:lnSpc>
            </a:pPr>
            <a:r>
              <a:rPr lang="ru-RU" sz="1400" dirty="0">
                <a:latin typeface="Times New Roman"/>
                <a:cs typeface="Times New Roman"/>
              </a:rPr>
              <a:t>1.PyCharm Community Edition  - место написания программы приложения. </a:t>
            </a:r>
            <a:endParaRPr lang="ru-RU" dirty="0"/>
          </a:p>
          <a:p>
            <a:pPr marL="1828800" indent="1143000">
              <a:lnSpc>
                <a:spcPct val="150000"/>
              </a:lnSpc>
            </a:pPr>
            <a:r>
              <a:rPr lang="ru-RU" sz="1400" dirty="0">
                <a:latin typeface="Times New Roman"/>
                <a:cs typeface="Times New Roman"/>
              </a:rPr>
              <a:t>2.GitHub - место сохранения программы.</a:t>
            </a:r>
          </a:p>
          <a:p>
            <a:pPr marL="1828800" indent="1143000">
              <a:lnSpc>
                <a:spcPct val="150000"/>
              </a:lnSpc>
            </a:pPr>
            <a:r>
              <a:rPr lang="ru-RU" sz="1400" dirty="0">
                <a:latin typeface="Times New Roman"/>
                <a:cs typeface="Times New Roman"/>
              </a:rPr>
              <a:t>3.Groq  - сайт, с которого был взят LLM.</a:t>
            </a:r>
          </a:p>
        </p:txBody>
      </p:sp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30270271-170E-809C-EB2B-55404287D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3155" y="1061803"/>
            <a:ext cx="1873771" cy="1848788"/>
          </a:xfrm>
          <a:prstGeom prst="rect">
            <a:avLst/>
          </a:prstGeom>
        </p:spPr>
      </p:pic>
      <p:pic>
        <p:nvPicPr>
          <p:cNvPr id="9" name="Рисунок 8" descr="Picture background">
            <a:extLst>
              <a:ext uri="{FF2B5EF4-FFF2-40B4-BE49-F238E27FC236}">
                <a16:creationId xmlns:a16="http://schemas.microsoft.com/office/drawing/2014/main" id="{85669A7B-D829-5A0F-67E1-32E579C8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735" y="2913368"/>
            <a:ext cx="2743200" cy="1543050"/>
          </a:xfrm>
          <a:prstGeom prst="rect">
            <a:avLst/>
          </a:prstGeom>
        </p:spPr>
      </p:pic>
      <p:pic>
        <p:nvPicPr>
          <p:cNvPr id="10" name="Рисунок 9" descr="Picture background">
            <a:extLst>
              <a:ext uri="{FF2B5EF4-FFF2-40B4-BE49-F238E27FC236}">
                <a16:creationId xmlns:a16="http://schemas.microsoft.com/office/drawing/2014/main" id="{A94BEFC8-60D7-144E-4EF1-9A8AF24DD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8629" y="4520221"/>
            <a:ext cx="2743200" cy="144018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E039013-6E72-451A-8BA7-E2079C3ECFB7}"/>
              </a:ext>
            </a:extLst>
          </p:cNvPr>
          <p:cNvSpPr txBox="1"/>
          <p:nvPr/>
        </p:nvSpPr>
        <p:spPr>
          <a:xfrm>
            <a:off x="6744277" y="2918114"/>
            <a:ext cx="105756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400" dirty="0">
                <a:latin typeface="Times New Roman"/>
                <a:cs typeface="Times New Roman"/>
              </a:rPr>
              <a:t>1.PyCharm</a:t>
            </a: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D734EE-693E-4B2E-DA3E-E1568B5205F5}"/>
              </a:ext>
            </a:extLst>
          </p:cNvPr>
          <p:cNvSpPr txBox="1"/>
          <p:nvPr/>
        </p:nvSpPr>
        <p:spPr>
          <a:xfrm>
            <a:off x="9822874" y="2458605"/>
            <a:ext cx="872837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400" dirty="0">
                <a:latin typeface="Times New Roman"/>
                <a:cs typeface="Times New Roman"/>
              </a:rPr>
              <a:t>2.GitHub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06FE68-DC91-3E8C-9A57-63DCA1C9B8EA}"/>
              </a:ext>
            </a:extLst>
          </p:cNvPr>
          <p:cNvSpPr txBox="1"/>
          <p:nvPr/>
        </p:nvSpPr>
        <p:spPr>
          <a:xfrm>
            <a:off x="6845301" y="4095173"/>
            <a:ext cx="84974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1400" dirty="0">
                <a:latin typeface="Times New Roman"/>
                <a:cs typeface="Times New Roman"/>
              </a:rPr>
              <a:t>3.Groq</a:t>
            </a:r>
          </a:p>
        </p:txBody>
      </p:sp>
    </p:spTree>
    <p:extLst>
      <p:ext uri="{BB962C8B-B14F-4D97-AF65-F5344CB8AC3E}">
        <p14:creationId xmlns:p14="http://schemas.microsoft.com/office/powerpoint/2010/main" val="362474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EF91E1CD-7613-F1A2-2622-EC4B3D51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A74D7-8742-44A2-B9BE-E22EEE5519E8}" type="datetime1">
              <a:t>2/8/2026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C685BE-A407-5CDF-A7C9-9DCF9C81E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0D54ED-8117-F52B-7DC8-352BDBAAF69D}"/>
              </a:ext>
            </a:extLst>
          </p:cNvPr>
          <p:cNvSpPr txBox="1"/>
          <p:nvPr/>
        </p:nvSpPr>
        <p:spPr>
          <a:xfrm>
            <a:off x="-3746" y="2006496"/>
            <a:ext cx="482932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0" indent="1143000"/>
            <a:r>
              <a:rPr lang="ru-RU" sz="1400" dirty="0">
                <a:latin typeface="Times New Roman"/>
                <a:cs typeface="Times New Roman"/>
              </a:rPr>
              <a:t>Результаты работы:</a:t>
            </a:r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7B2E4-47F2-C5E4-A951-F14680D5497E}"/>
              </a:ext>
            </a:extLst>
          </p:cNvPr>
          <p:cNvSpPr txBox="1"/>
          <p:nvPr/>
        </p:nvSpPr>
        <p:spPr>
          <a:xfrm>
            <a:off x="-3123" y="2470567"/>
            <a:ext cx="4579495" cy="23164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0" indent="1143000">
              <a:lnSpc>
                <a:spcPct val="150000"/>
              </a:lnSpc>
            </a:pPr>
            <a:r>
              <a:rPr lang="ru-RU" sz="1400" dirty="0">
                <a:ea typeface="+mn-lt"/>
                <a:cs typeface="+mn-lt"/>
              </a:rPr>
              <a:t>При выборе файлов формата .</a:t>
            </a:r>
            <a:r>
              <a:rPr lang="ru-RU" sz="1400" dirty="0" err="1">
                <a:ea typeface="+mn-lt"/>
                <a:cs typeface="+mn-lt"/>
              </a:rPr>
              <a:t>py</a:t>
            </a:r>
            <a:r>
              <a:rPr lang="ru-RU" sz="1400" dirty="0">
                <a:ea typeface="+mn-lt"/>
                <a:cs typeface="+mn-lt"/>
              </a:rPr>
              <a:t> и .</a:t>
            </a:r>
            <a:r>
              <a:rPr lang="ru-RU" sz="1400" dirty="0" err="1">
                <a:ea typeface="+mn-lt"/>
                <a:cs typeface="+mn-lt"/>
              </a:rPr>
              <a:t>txt</a:t>
            </a:r>
            <a:r>
              <a:rPr lang="ru-RU" sz="1400" dirty="0">
                <a:ea typeface="+mn-lt"/>
                <a:cs typeface="+mn-lt"/>
              </a:rPr>
              <a:t> для генерации кода или при сравнении файла формата .</a:t>
            </a:r>
            <a:r>
              <a:rPr lang="ru-RU" sz="1400" dirty="0" err="1">
                <a:ea typeface="+mn-lt"/>
                <a:cs typeface="+mn-lt"/>
              </a:rPr>
              <a:t>py</a:t>
            </a:r>
            <a:r>
              <a:rPr lang="ru-RU" sz="1400" dirty="0">
                <a:ea typeface="+mn-lt"/>
                <a:cs typeface="+mn-lt"/>
              </a:rPr>
              <a:t> с уже написанным кодом программа успешно выводит процент соответствия.</a:t>
            </a:r>
            <a:endParaRPr lang="ru-RU" dirty="0">
              <a:ea typeface="+mn-lt"/>
              <a:cs typeface="+mn-lt"/>
            </a:endParaRPr>
          </a:p>
        </p:txBody>
      </p:sp>
      <p:pic>
        <p:nvPicPr>
          <p:cNvPr id="10" name="Рисунок 9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CDBEF8-EE8E-6A9F-9E15-3D327AA7F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48" y="1436557"/>
            <a:ext cx="5462044" cy="437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385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E53AB4-4CF2-73A8-00C5-81E8DD289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48445-A3DC-454F-AB36-5A7DFBC7ED5D}" type="datetime1">
              <a:t>2/8/2026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9E8BA39-02A4-B551-20C6-121DA865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68FCF1-0C9B-AD8E-5237-DA8BF68DD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E2249-A8E5-E0F8-BAFC-4D74C85DA816}"/>
              </a:ext>
            </a:extLst>
          </p:cNvPr>
          <p:cNvSpPr txBox="1"/>
          <p:nvPr/>
        </p:nvSpPr>
        <p:spPr>
          <a:xfrm>
            <a:off x="4743450" y="194310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24C095-D022-0C5B-DC95-011804681F5B}"/>
              </a:ext>
            </a:extLst>
          </p:cNvPr>
          <p:cNvSpPr txBox="1"/>
          <p:nvPr/>
        </p:nvSpPr>
        <p:spPr>
          <a:xfrm>
            <a:off x="3123" y="2346898"/>
            <a:ext cx="575372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0" indent="1143000" algn="l"/>
            <a:r>
              <a:rPr lang="ru-RU" sz="1400" dirty="0">
                <a:latin typeface="Times New Roman"/>
                <a:cs typeface="Times New Roman"/>
              </a:rPr>
              <a:t>Итог:</a:t>
            </a:r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2B264-282E-F5DF-4178-1D2AC7781FAF}"/>
              </a:ext>
            </a:extLst>
          </p:cNvPr>
          <p:cNvSpPr txBox="1"/>
          <p:nvPr/>
        </p:nvSpPr>
        <p:spPr>
          <a:xfrm>
            <a:off x="10307" y="2667000"/>
            <a:ext cx="5266543" cy="13469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828800" indent="1143000">
              <a:lnSpc>
                <a:spcPct val="150000"/>
              </a:lnSpc>
            </a:pPr>
            <a:r>
              <a:rPr lang="ru-RU" sz="1400" dirty="0">
                <a:latin typeface="Times New Roman"/>
                <a:cs typeface="Times New Roman"/>
              </a:rPr>
              <a:t>Приложение, которое сравнивает 2 программы, написанных на языке программирования Python, и выводит процент их соответствия.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39130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ChronicleVTI</vt:lpstr>
      <vt:lpstr>Презентация PowerPoint</vt:lpstr>
      <vt:lpstr>Актуальность работы:</vt:lpstr>
      <vt:lpstr>Цель:</vt:lpstr>
      <vt:lpstr>Задачи:</vt:lpstr>
      <vt:lpstr>Использованные ресурсы: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461</cp:revision>
  <dcterms:created xsi:type="dcterms:W3CDTF">2026-02-08T13:42:45Z</dcterms:created>
  <dcterms:modified xsi:type="dcterms:W3CDTF">2026-02-08T15:32:05Z</dcterms:modified>
</cp:coreProperties>
</file>